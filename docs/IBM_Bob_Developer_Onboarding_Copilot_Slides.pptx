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4000" b="1">
                <a:solidFill>
                  <a:srgbClr val="F8FAFC"/>
                </a:solidFill>
                <a:latin typeface="Arial"/>
              </a:defRPr>
            </a:pPr>
            <a:r>
              <a:t>IBM Bob Developer Onboarding Copilot</a:t>
            </a:r>
          </a:p>
          <a:p>
            <a:pPr>
              <a:spcAft>
                <a:spcPts val="3000"/>
              </a:spcAft>
              <a:defRPr sz="1800">
                <a:solidFill>
                  <a:srgbClr val="00C3FF"/>
                </a:solidFill>
                <a:latin typeface="Arial"/>
              </a:defRPr>
            </a:pPr>
            <a:r>
              <a:t>Transform any complex GitHub repository into a personalized, interactive onboarding experience powered by IBM watsonx &amp; Bob.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Track: IBM Bob 2.0 Hackathon (AI-Assisted Development)   |   Tech: IBM watsonx.ai (LLaMA 3.3 70B), MCP, FastAPI, React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The Problem: Developer Onboarding is Slow &amp; Expensive</a:t>
            </a:r>
          </a:p>
          <a:p>
            <a:pPr>
              <a:defRPr sz="1400">
                <a:solidFill>
                  <a:srgbClr val="00C3FF"/>
                </a:solidFill>
                <a:latin typeface="Arial"/>
              </a:defRPr>
            </a:pPr>
            <a:r>
              <a:t>Traditional onboarding wastes weeks of engineering time and context-switching budget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spcAft>
                <a:spcPts val="800"/>
              </a:spcAft>
              <a:defRPr sz="1800" b="1">
                <a:solidFill>
                  <a:srgbClr val="00C3FF"/>
                </a:solidFill>
                <a:latin typeface="Arial"/>
              </a:defRPr>
            </a:pPr>
            <a:r>
              <a:t>⏳ 2 to 4 Weeks Lost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New engineers spend weeks deciphering repository structures, setup scripts, and business logic before making their first commit.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spcAft>
                <a:spcPts val="800"/>
              </a:spcAft>
              <a:defRPr sz="1800" b="1">
                <a:solidFill>
                  <a:srgbClr val="00C3FF"/>
                </a:solidFill>
                <a:latin typeface="Arial"/>
              </a:defRPr>
            </a:pPr>
            <a:r>
              <a:t>🛑 Context Switching Overhead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Senior engineers spend hours per week answering repetitive architecture and dependency questions.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14800"/>
            <a:ext cx="52120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spcAft>
                <a:spcPts val="800"/>
              </a:spcAft>
              <a:defRPr sz="1800" b="1">
                <a:solidFill>
                  <a:srgbClr val="00C3FF"/>
                </a:solidFill>
                <a:latin typeface="Arial"/>
              </a:defRPr>
            </a:pPr>
            <a:r>
              <a:t>📑 Outdated Documentation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READMEs, wikis, and setup guides quickly fall out of sync with fast-moving codebases.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114800"/>
            <a:ext cx="52120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spcAft>
                <a:spcPts val="800"/>
              </a:spcAft>
              <a:defRPr sz="1800" b="1">
                <a:solidFill>
                  <a:srgbClr val="00C3FF"/>
                </a:solidFill>
                <a:latin typeface="Arial"/>
              </a:defRPr>
            </a:pPr>
            <a:r>
              <a:t>💸 High Financial Friction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Onboarding delays cost engineering organizations thousands of dollars per developer in lost productivity.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The Solution: Your 24/7 AI-Powered Senior Mentor</a:t>
            </a:r>
          </a:p>
          <a:p>
            <a:pPr>
              <a:defRPr sz="1400">
                <a:solidFill>
                  <a:srgbClr val="00C3FF"/>
                </a:solidFill>
                <a:latin typeface="Arial"/>
              </a:defRPr>
            </a:pPr>
            <a:r>
              <a:t>Instant, intelligent repository onboarding from first clone to first pull request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00C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10B981"/>
                </a:solidFill>
                <a:latin typeface="Arial"/>
              </a:defRPr>
            </a:pPr>
            <a:r>
              <a:t>1. Paste GitHub URL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Connect any public or private repository URL directly in the dashboard.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3832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00C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10B981"/>
                </a:solidFill>
                <a:latin typeface="Arial"/>
              </a:defRPr>
            </a:pPr>
            <a:r>
              <a:t>2. Automated Structural Parsing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IBM watsonx.ai parses entry points, dependencies, and codebase structure.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3832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00C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10B981"/>
                </a:solidFill>
                <a:latin typeface="Arial"/>
              </a:defRPr>
            </a:pPr>
            <a:r>
              <a:t>3. Personalized Roadmaps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Generates role-adapted (Junior/Mid/Senior) day-by-day onboarding plans.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14800"/>
            <a:ext cx="33832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00C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10B981"/>
                </a:solidFill>
                <a:latin typeface="Arial"/>
              </a:defRPr>
            </a:pPr>
            <a:r>
              <a:t>4. Context-Aware Q&amp;A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Answers codebase architecture questions with line-level citations.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4114800"/>
            <a:ext cx="33832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00C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10B981"/>
                </a:solidFill>
                <a:latin typeface="Arial"/>
              </a:defRPr>
            </a:pPr>
            <a:r>
              <a:t>5. Pre-Merge Code Validation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Automatically tests and validates local task code against acceptance criteria.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4114800"/>
            <a:ext cx="33832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00C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10B981"/>
                </a:solidFill>
                <a:latin typeface="Arial"/>
              </a:defRPr>
            </a:pPr>
            <a:r>
              <a:t>6. 1-Click PR Generator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Curates first issues and auto-generates pull request titles &amp; descriptions.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Core Features: From First Clone to First PR</a:t>
            </a:r>
          </a:p>
          <a:p>
            <a:pPr>
              <a:defRPr sz="1400">
                <a:solidFill>
                  <a:srgbClr val="00C3FF"/>
                </a:solidFill>
                <a:latin typeface="Arial"/>
              </a:defRPr>
            </a:pPr>
            <a:r>
              <a:t>Engineered for maximum developer velocity and seamless AI assistance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spcAft>
                <a:spcPts val="800"/>
              </a:spcAft>
              <a:defRPr sz="1700" b="1">
                <a:solidFill>
                  <a:srgbClr val="F8FAFC"/>
                </a:solidFill>
                <a:latin typeface="Arial"/>
              </a:defRPr>
            </a:pPr>
            <a:r>
              <a:t>🧭 Personalized Onboarding Plan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Dynamic multi-day learning modules complete with actionable checklists, estimated completion times, and file references.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spcAft>
                <a:spcPts val="800"/>
              </a:spcAft>
              <a:defRPr sz="1700" b="1">
                <a:solidFill>
                  <a:srgbClr val="F8FAFC"/>
                </a:solidFill>
                <a:latin typeface="Arial"/>
              </a:defRPr>
            </a:pPr>
            <a:r>
              <a:t>💬 Codebase Chat (LLaMA 3.3 70B)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Context-aware conversational assistant hosted on IBM Cloud watsonx.ai providing line-specific codebase answers.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14800"/>
            <a:ext cx="52120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spcAft>
                <a:spcPts val="800"/>
              </a:spcAft>
              <a:defRPr sz="1700" b="1">
                <a:solidFill>
                  <a:srgbClr val="F8FAFC"/>
                </a:solidFill>
                <a:latin typeface="Arial"/>
              </a:defRPr>
            </a:pPr>
            <a:r>
              <a:t>✅ Interactive Code Validation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Real-time pre-merge AI evaluation of local code submissions against task acceptance criteria.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114800"/>
            <a:ext cx="52120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spcAft>
                <a:spcPts val="800"/>
              </a:spcAft>
              <a:defRPr sz="1700" b="1">
                <a:solidFill>
                  <a:srgbClr val="F8FAFC"/>
                </a:solidFill>
                <a:latin typeface="Arial"/>
              </a:defRPr>
            </a:pPr>
            <a:r>
              <a:t>🚀 PR Title &amp; Description Generator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Auto-curates beginner-friendly 'good first issues' and formats standardized GitHub PR pull request artifacts.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System Architecture &amp; Tech Stack</a:t>
            </a:r>
          </a:p>
          <a:p>
            <a:pPr>
              <a:defRPr sz="1400">
                <a:solidFill>
                  <a:srgbClr val="00C3FF"/>
                </a:solidFill>
                <a:latin typeface="Arial"/>
              </a:defRPr>
            </a:pPr>
            <a:r>
              <a:t>Powered by IBM watsonx.ai, Model Context Protocol (MCP), FastAPI &amp; React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685800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200"/>
              </a:spcAft>
              <a:defRPr sz="1800" b="1">
                <a:solidFill>
                  <a:srgbClr val="00C3FF"/>
                </a:solidFill>
              </a:defRPr>
            </a:pPr>
            <a:r>
              <a:t>Architecture Diagram</a:t>
            </a:r>
          </a:p>
          <a:p>
            <a:pPr>
              <a:defRPr sz="1300">
                <a:solidFill>
                  <a:srgbClr val="F8FAFC"/>
                </a:solidFill>
                <a:latin typeface="Consolas"/>
              </a:defRPr>
            </a:pPr>
            <a:r>
              <a:t>[ React + TypeScript Frontend ]</a:t>
            </a:r>
            <a:br/>
            <a:r>
              <a:t>   │ Interactive Onboarding Dashboard &amp; Chat UI</a:t>
            </a:r>
            <a:br/>
            <a:r>
              <a:t>   ▼</a:t>
            </a:r>
            <a:br/>
            <a:r>
              <a:t>[ FastAPI Model Context Protocol (MCP) Server ]</a:t>
            </a:r>
            <a:br/>
            <a:r>
              <a:t>   │ Repo Parsing Engine &amp; Tool Declarations (/mcp/)</a:t>
            </a:r>
            <a:br/>
            <a:r>
              <a:t>   ▼  (IAM OAuth2 Token Exchange)</a:t>
            </a:r>
            <a:br/>
            <a:r>
              <a:t>[ IBM watsonx.ai Foundation Models ]</a:t>
            </a:r>
            <a:br/>
            <a:r>
              <a:t>   └─ meta-llama/llama-3-3-70b-instruct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1645920"/>
            <a:ext cx="356616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00C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200"/>
              </a:spcAft>
              <a:defRPr sz="1800" b="1">
                <a:solidFill>
                  <a:srgbClr val="10B981"/>
                </a:solidFill>
              </a:defRPr>
            </a:pPr>
            <a:r>
              <a:t>Tech Stack Summary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AI Engine: IBM watsonx.ai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Model: LLaMA 3.3 70B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Protocol: Model Context Protocol (MCP)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Backend: Python, FastAPI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Frontend: React, TypeScript, TailwindCSS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Deployment: Vercel &amp; Docker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Impact &amp; Future Vision</a:t>
            </a:r>
          </a:p>
          <a:p>
            <a:pPr>
              <a:defRPr sz="1400">
                <a:solidFill>
                  <a:srgbClr val="00C3FF"/>
                </a:solidFill>
                <a:latin typeface="Arial"/>
              </a:defRPr>
            </a:pPr>
            <a:r>
              <a:t>Accelerating developer productivity and team velocity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9448495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spcAft>
                <a:spcPts val="1600"/>
              </a:spcAft>
              <a:defRPr sz="2200" b="1">
                <a:solidFill>
                  <a:srgbClr val="00C3FF"/>
                </a:solidFill>
              </a:defRPr>
            </a:pPr>
            <a:r>
              <a:t>🚀 Key Hackathon Outcomes &amp; Future Roadmap</a:t>
            </a:r>
          </a:p>
          <a:p>
            <a:pPr>
              <a:spcAft>
                <a:spcPts val="1200"/>
              </a:spcAft>
              <a:defRPr sz="1600">
                <a:solidFill>
                  <a:srgbClr val="F8FAFC"/>
                </a:solidFill>
              </a:defRPr>
            </a:pPr>
            <a:r>
              <a:t>• ⚡ 70% Reduction in Developer Ramp-up Time: From weeks to hours from first repo clone.</a:t>
            </a:r>
          </a:p>
          <a:p>
            <a:pPr>
              <a:spcAft>
                <a:spcPts val="1200"/>
              </a:spcAft>
              <a:defRPr sz="1600">
                <a:solidFill>
                  <a:srgbClr val="F8FAFC"/>
                </a:solidFill>
              </a:defRPr>
            </a:pPr>
            <a:r>
              <a:t>• 🤖 Native IBM Bob &amp; watsonx Orchestrate Integration: Standard MCP tool exposure for AI agents.</a:t>
            </a:r>
          </a:p>
          <a:p>
            <a:pPr>
              <a:spcAft>
                <a:spcPts val="1200"/>
              </a:spcAft>
              <a:defRPr sz="1600">
                <a:solidFill>
                  <a:srgbClr val="F8FAFC"/>
                </a:solidFill>
              </a:defRPr>
            </a:pPr>
            <a:r>
              <a:t>• 📊 Enterprise Telemetry: Team progress monitoring, skill gap analysis, and onboarding metrics.</a:t>
            </a:r>
          </a:p>
          <a:p>
            <a:pPr>
              <a:spcAft>
                <a:spcPts val="1200"/>
              </a:spcAft>
              <a:defRPr sz="1600">
                <a:solidFill>
                  <a:srgbClr val="F8FAFC"/>
                </a:solidFill>
              </a:defRPr>
            </a:pPr>
            <a:r>
              <a:t>• 🌐 Open Source &amp; Production Ready: Configured for Vercel deployment with full test coverage.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